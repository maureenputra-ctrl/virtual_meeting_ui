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5" r:id="rId26"/>
    <p:sldId id="258" r:id="rId4"/>
    <p:sldId id="271" r:id="rId22"/>
    <p:sldId id="272" r:id="rId23"/>
    <p:sldId id="273" r:id="rId24"/>
    <p:sldId id="274" r:id="rId25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8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slide" Target="slides/slide17.xml"/><Relationship Id="rId15" Type="http://schemas.openxmlformats.org/officeDocument/2006/relationships/slide" Target="slides/slide18.xml"/><Relationship Id="rId16" Type="http://schemas.openxmlformats.org/officeDocument/2006/relationships/slide" Target="slides/slide19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Position this as a research-backed product — not a copy of Zoom, but something built by studying what's wrong with all existing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stage. The meeting problem is a real, expensive business problem — not just a UX complaint. Use the $37B stat to anchor the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Competitive research. Note the pricing — RDS Meet should sit between Google ($6) and Zoom ($15.99) at the Professional tier to maximise value perception.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8 original pain points from the research brief — verbatim, with added context on why each one matters in a professional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features confirmed across competitors. The note 'seen in' shows which platform does it best — RDS Meet takes the best version of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4 features are the core differentiation. Each one has a 'Why now' rationale — showing competitors either don't have it, or charge extra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sizing. The SOM of $42M is achievable at 1% of the mid-market segment — roughly 3,000 companies with 100+ users. Anchor the TAM to show the ceiling, then focus on the realistic SOM.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solution summary. 12 features across 3 rows — this is the 'menu' slide before diving into the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this step by step during the live demo. Each card has a feature callout at the bottom — point to it as you demo that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comparison table is the most persuasive slide in the deck. RDS Meet has a green checkmark on every row. Zoom and Teams both need add-ons for AI. The price footnote explains why $6 Google isn't actually competitive.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 has KPIs and team size per phase — this makes it a real plan, not a wishlist. Use Phase 1 KPIs (NPS &gt; 8, join time &lt; 10s) as the internal success criteria before launching externally.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GTM strategy mirrors the product phases. Phase 1 is internal validation, Phase 2 is warm outbound to existing clients (lowest acquisition cost), Phase 3 is content-led growth, Phase 4 is product-led growth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is positioned between Google Meet (too cheap to be taken seriously) and Zoom (slightly overpriced). Professional at $14 is the main revenue driver. Enterprise handles large accounts with custom contracts.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Conservative model. Year 1 is mostly internal — revenue is low. Year 2 breaks $74K ARR with external launch. Year 3 hits $345K with AI tier and Enterprise contracts. Stress that these are floor estimates, not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action items. Step 5 is the hook for the live demo — transition directly from this slide to the running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475488" cy="384048"/>
          </a:xfrm>
          <a:prstGeom prst="roundRect">
            <a:avLst>
              <a:gd name="adj" fmla="val 16667"/>
            </a:avLst>
          </a:prstGeom>
          <a:solidFill>
            <a:srgbClr val="014592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548640"/>
            <a:ext cx="18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CCFF"/>
                </a:solidFill>
              </a:rPr>
              <a:t>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Meet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02920" y="2176272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7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meeting platform built from research.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7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assumptions.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97880" y="1005840"/>
            <a:ext cx="3108960" cy="594360"/>
          </a:xfrm>
          <a:prstGeom prst="roundRect">
            <a:avLst>
              <a:gd name="adj" fmla="val 18462"/>
            </a:avLst>
          </a:prstGeom>
          <a:solidFill>
            <a:srgbClr val="014592"/>
          </a:solidFill>
          <a:ln/>
        </p:spPr>
      </p:sp>
      <p:sp>
        <p:nvSpPr>
          <p:cNvPr id="7" name="Shape 5"/>
          <p:cNvSpPr/>
          <p:nvPr/>
        </p:nvSpPr>
        <p:spPr>
          <a:xfrm>
            <a:off x="6537960" y="1874520"/>
            <a:ext cx="2468880" cy="594360"/>
          </a:xfrm>
          <a:prstGeom prst="roundRect">
            <a:avLst>
              <a:gd name="adj" fmla="val 18462"/>
            </a:avLst>
          </a:prstGeom>
          <a:solidFill>
            <a:srgbClr val="1A6FD4"/>
          </a:solidFill>
          <a:ln/>
        </p:spPr>
      </p:sp>
      <p:sp>
        <p:nvSpPr>
          <p:cNvPr id="8" name="Shape 6"/>
          <p:cNvSpPr/>
          <p:nvPr/>
        </p:nvSpPr>
        <p:spPr>
          <a:xfrm>
            <a:off x="7178040" y="2697480"/>
            <a:ext cx="1828800" cy="594360"/>
          </a:xfrm>
          <a:prstGeom prst="roundRect">
            <a:avLst>
              <a:gd name="adj" fmla="val 18462"/>
            </a:avLst>
          </a:prstGeom>
          <a:solidFill>
            <a:srgbClr val="2DA44E"/>
          </a:solidFill>
          <a:ln/>
        </p:spPr>
      </p:sp>
      <p:sp>
        <p:nvSpPr>
          <p:cNvPr id="9" name="Shape 7"/>
          <p:cNvSpPr/>
          <p:nvPr/>
        </p:nvSpPr>
        <p:spPr>
          <a:xfrm>
            <a:off x="7818120" y="3520440"/>
            <a:ext cx="1188720" cy="594360"/>
          </a:xfrm>
          <a:prstGeom prst="roundRect">
            <a:avLst>
              <a:gd name="adj" fmla="val 18462"/>
            </a:avLst>
          </a:prstGeom>
          <a:solidFill>
            <a:srgbClr val="1E2A3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310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RDS internal review  ·  June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are broken — and everyone knows 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4447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20665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to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unproductive meetings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87752" y="1298448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87752" y="14447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31hrs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87752" y="20665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per employee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64024" y="1298448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64024" y="14447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14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64024" y="20665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senior managers say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are ineffective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0296" y="1298448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0296" y="14447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11M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940296" y="20665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held daily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US alone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880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tools don't help — they add to the problem.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383280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3467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Cluttered interfaces slow participants down before the meeting even starts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767328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307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meeting intelligence — you leave with no record of what was decided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151376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tools (whiteboard, breakout rooms) are buried or broken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535424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looks different on every device — no consistency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RESEARCH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studied four platforms before writing a single line of code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1298448"/>
            <a:ext cx="4114800" cy="1389888"/>
          </a:xfrm>
          <a:prstGeom prst="roundRect">
            <a:avLst>
              <a:gd name="adj" fmla="val 6579"/>
            </a:avLst>
          </a:prstGeom>
          <a:solidFill>
            <a:srgbClr val="1E2A3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408176"/>
            <a:ext cx="54864" cy="822960"/>
          </a:xfrm>
          <a:prstGeom prst="roundRect">
            <a:avLst>
              <a:gd name="adj" fmla="val 50000"/>
            </a:avLst>
          </a:prstGeom>
          <a:solidFill>
            <a:srgbClr val="1A6FD4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08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61488" y="14264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$15.99/user/mo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1719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Grid view &amp; reactions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6656" y="19568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Breakout rooms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76656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Wide adoption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0320" y="171907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Cluttered toolbar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0" y="195681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Free tier ads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60320" y="219456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meeting replay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298448"/>
            <a:ext cx="4114800" cy="1389888"/>
          </a:xfrm>
          <a:prstGeom prst="roundRect">
            <a:avLst>
              <a:gd name="adj" fmla="val 6579"/>
            </a:avLst>
          </a:prstGeom>
          <a:solidFill>
            <a:srgbClr val="1E2A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901184" y="1408176"/>
            <a:ext cx="54864" cy="822960"/>
          </a:xfrm>
          <a:prstGeom prst="roundRect">
            <a:avLst>
              <a:gd name="adj" fmla="val 50000"/>
            </a:avLst>
          </a:prstGeom>
          <a:solidFill>
            <a:srgbClr val="2DA44E"/>
          </a:solidFill>
          <a:ln/>
        </p:spPr>
      </p:sp>
      <p:sp>
        <p:nvSpPr>
          <p:cNvPr id="16" name="Text 14"/>
          <p:cNvSpPr/>
          <p:nvPr/>
        </p:nvSpPr>
        <p:spPr>
          <a:xfrm>
            <a:off x="5047488" y="1408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14264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$6/user/mo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47488" y="1719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Clean minimal UI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47488" y="19568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Calendar native integration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47488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 to join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31152" y="171907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Limited collaboration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31152" y="195681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whiteboard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31152" y="219456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post-meeting 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2871216"/>
            <a:ext cx="4114800" cy="1389888"/>
          </a:xfrm>
          <a:prstGeom prst="roundRect">
            <a:avLst>
              <a:gd name="adj" fmla="val 6579"/>
            </a:avLst>
          </a:prstGeom>
          <a:solidFill>
            <a:srgbClr val="1E2A3B"/>
          </a:solidFill>
          <a:ln/>
        </p:spPr>
      </p:sp>
      <p:sp>
        <p:nvSpPr>
          <p:cNvPr id="25" name="Shape 23"/>
          <p:cNvSpPr/>
          <p:nvPr/>
        </p:nvSpPr>
        <p:spPr>
          <a:xfrm>
            <a:off x="530352" y="2980944"/>
            <a:ext cx="54864" cy="822960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29809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61488" y="29992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$4/user/mo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" y="3291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Deep Office integration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6656" y="3529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File sharing built-in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6656" y="3767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Strong enterprise trust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60320" y="329184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Navigation nightmare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60320" y="352958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Inconsistent UI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560320" y="37673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Slow &amp; heavy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871216"/>
            <a:ext cx="4114800" cy="1389888"/>
          </a:xfrm>
          <a:prstGeom prst="roundRect">
            <a:avLst>
              <a:gd name="adj" fmla="val 6579"/>
            </a:avLst>
          </a:prstGeom>
          <a:solidFill>
            <a:srgbClr val="1E2A3B"/>
          </a:solidFill>
          <a:ln/>
        </p:spPr>
      </p:sp>
      <p:sp>
        <p:nvSpPr>
          <p:cNvPr id="35" name="Shape 33"/>
          <p:cNvSpPr/>
          <p:nvPr/>
        </p:nvSpPr>
        <p:spPr>
          <a:xfrm>
            <a:off x="4901184" y="2980944"/>
            <a:ext cx="54864" cy="8229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5047488" y="29809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Webex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32320" y="29992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$14.50/user/mo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47488" y="3291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Enterprise analytics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47488" y="3529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Strong security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47488" y="3767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Meeting recording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31152" y="329184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Outdated interface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31152" y="352958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Hard for new users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31152" y="37673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Poor mobile experience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822960"/>
          </a:xfrm>
          <a:prstGeom prst="rect">
            <a:avLst/>
          </a:prstGeom>
          <a:solidFill>
            <a:srgbClr val="0E7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5486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Zoom Workplace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DCEBFF"/>
                </a:solidFill>
              </a:rPr>
              <a:t>The market leader — 300M+ daily participants · $15.99/user/mo</a:t>
            </a:r>
          </a:p>
        </p:txBody>
      </p:sp>
      <p:pic>
        <p:nvPicPr>
          <p:cNvPr id="5" name="Picture 4" descr="zoom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896112"/>
            <a:ext cx="3291840" cy="2487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4592" y="3419856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</a:rPr>
              <a:t>Home dashboard</a:t>
            </a:r>
          </a:p>
        </p:txBody>
      </p:sp>
      <p:pic>
        <p:nvPicPr>
          <p:cNvPr id="7" name="Picture 6" descr="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896112"/>
            <a:ext cx="2542032" cy="1170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47872" y="2066543"/>
            <a:ext cx="2542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In-meeting view</a:t>
            </a:r>
          </a:p>
        </p:txBody>
      </p:sp>
      <p:pic>
        <p:nvPicPr>
          <p:cNvPr id="9" name="Picture 8" descr="zoom_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2103120"/>
            <a:ext cx="2542032" cy="1170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47872" y="3273552"/>
            <a:ext cx="2542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Settings panel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877824"/>
            <a:ext cx="1920240" cy="25603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877824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✓  WORKS WELL</a:t>
            </a:r>
          </a:p>
        </p:txBody>
      </p:sp>
      <p:sp>
        <p:nvSpPr>
          <p:cNvPr id="13" name="Oval 12"/>
          <p:cNvSpPr/>
          <p:nvPr/>
        </p:nvSpPr>
        <p:spPr>
          <a:xfrm>
            <a:off x="6272784" y="1243584"/>
            <a:ext cx="164592" cy="164592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88720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Dashboard shows today's meetings clearly</a:t>
            </a:r>
          </a:p>
          <a:p>
            <a:r>
              <a:rPr sz="750">
                <a:solidFill>
                  <a:srgbClr val="64748B"/>
                </a:solidFill>
              </a:rPr>
              <a:t>Upcoming list, quick actions, recent recordings — all in one view</a:t>
            </a:r>
          </a:p>
        </p:txBody>
      </p:sp>
      <p:sp>
        <p:nvSpPr>
          <p:cNvPr id="15" name="Oval 14"/>
          <p:cNvSpPr/>
          <p:nvPr/>
        </p:nvSpPr>
        <p:spPr>
          <a:xfrm>
            <a:off x="6272784" y="1737360"/>
            <a:ext cx="164592" cy="164592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82496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Gallery view shows all participants</a:t>
            </a:r>
          </a:p>
          <a:p>
            <a:r>
              <a:rPr sz="750">
                <a:solidFill>
                  <a:srgbClr val="64748B"/>
                </a:solidFill>
              </a:rPr>
              <a:t>3×3 grid is the default — nobody is hidden</a:t>
            </a:r>
          </a:p>
        </p:txBody>
      </p:sp>
      <p:sp>
        <p:nvSpPr>
          <p:cNvPr id="17" name="Oval 16"/>
          <p:cNvSpPr/>
          <p:nvPr/>
        </p:nvSpPr>
        <p:spPr>
          <a:xfrm>
            <a:off x="6272784" y="2231136"/>
            <a:ext cx="164592" cy="164592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176272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Breakout rooms &amp; reactions work well</a:t>
            </a:r>
          </a:p>
          <a:p>
            <a:r>
              <a:rPr sz="750">
                <a:solidFill>
                  <a:srgbClr val="64748B"/>
                </a:solidFill>
              </a:rPr>
              <a:t>Industry-leading — other platforms copy Zoom here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706624"/>
            <a:ext cx="192024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706624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✗  ISSUES</a:t>
            </a:r>
          </a:p>
        </p:txBody>
      </p:sp>
      <p:sp>
        <p:nvSpPr>
          <p:cNvPr id="21" name="Oval 20"/>
          <p:cNvSpPr/>
          <p:nvPr/>
        </p:nvSpPr>
        <p:spPr>
          <a:xfrm>
            <a:off x="6272784" y="3072384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017520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Home nav has 5 competing tabs</a:t>
            </a:r>
          </a:p>
          <a:p>
            <a:r>
              <a:rPr sz="750">
                <a:solidFill>
                  <a:srgbClr val="64748B"/>
                </a:solidFill>
              </a:rPr>
              <a:t>Home, Chat, Meetings, Whiteboard, Team Chat — all equal weight at the top</a:t>
            </a:r>
          </a:p>
        </p:txBody>
      </p:sp>
      <p:sp>
        <p:nvSpPr>
          <p:cNvPr id="23" name="Oval 22"/>
          <p:cNvSpPr/>
          <p:nvPr/>
        </p:nvSpPr>
        <p:spPr>
          <a:xfrm>
            <a:off x="6272784" y="3566160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511296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Settings has 12+ tabs</a:t>
            </a:r>
          </a:p>
          <a:p>
            <a:r>
              <a:rPr sz="750">
                <a:solidFill>
                  <a:srgbClr val="64748B"/>
                </a:solidFill>
              </a:rPr>
              <a:t>Every tab leads to more sub-settings — overwhelming for non-technical users</a:t>
            </a:r>
          </a:p>
        </p:txBody>
      </p:sp>
      <p:sp>
        <p:nvSpPr>
          <p:cNvPr id="25" name="Oval 24"/>
          <p:cNvSpPr/>
          <p:nvPr/>
        </p:nvSpPr>
        <p:spPr>
          <a:xfrm>
            <a:off x="6272784" y="4059936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005072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In-meeting toolbar is 10 buttons wide</a:t>
            </a:r>
          </a:p>
          <a:p>
            <a:r>
              <a:rPr sz="750">
                <a:solidFill>
                  <a:srgbClr val="64748B"/>
                </a:solidFill>
              </a:rPr>
              <a:t>No separation between primary controls and secondary functions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4553712"/>
            <a:ext cx="7991856" cy="402336"/>
          </a:xfrm>
          <a:prstGeom prst="rect">
            <a:avLst/>
          </a:prstGeom>
          <a:solidFill>
            <a:srgbClr val="1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592" y="4553712"/>
            <a:ext cx="45720" cy="402336"/>
          </a:xfrm>
          <a:prstGeom prst="rect">
            <a:avLst/>
          </a:prstGeom>
          <a:solidFill>
            <a:srgbClr val="0E7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4581144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C0D0E0"/>
                </a:solidFill>
              </a:rPr>
              <a:t>Verdict: Zoom does the core meeting experience better than anyone — but every screen outside the meeting reveals a product that kept adding features without revisiting information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5486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Google Meet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DCEBFF"/>
                </a:solidFill>
              </a:rPr>
              <a:t>The minimalist — native to Google Workspace · $6/user/mo</a:t>
            </a:r>
          </a:p>
        </p:txBody>
      </p:sp>
      <p:pic>
        <p:nvPicPr>
          <p:cNvPr id="5" name="Picture 4" descr="gmee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896112"/>
            <a:ext cx="3291840" cy="2487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4592" y="3419856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</a:rPr>
              <a:t>Home screen</a:t>
            </a:r>
          </a:p>
        </p:txBody>
      </p:sp>
      <p:pic>
        <p:nvPicPr>
          <p:cNvPr id="7" name="Picture 6" descr="gmeet_mee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896112"/>
            <a:ext cx="2542032" cy="1170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47872" y="2066543"/>
            <a:ext cx="2542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In-meeting + chat</a:t>
            </a:r>
          </a:p>
        </p:txBody>
      </p:sp>
      <p:pic>
        <p:nvPicPr>
          <p:cNvPr id="9" name="Picture 8" descr="zoom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2103120"/>
            <a:ext cx="2542032" cy="1170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47872" y="3273552"/>
            <a:ext cx="2542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Calendar integration (via Gmail)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877824"/>
            <a:ext cx="1920240" cy="25603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877824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✓  WORKS WELL</a:t>
            </a:r>
          </a:p>
        </p:txBody>
      </p:sp>
      <p:sp>
        <p:nvSpPr>
          <p:cNvPr id="13" name="Oval 12"/>
          <p:cNvSpPr/>
          <p:nvPr/>
        </p:nvSpPr>
        <p:spPr>
          <a:xfrm>
            <a:off x="6272784" y="1243584"/>
            <a:ext cx="164592" cy="164592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88720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Home screen is the simplest of all four</a:t>
            </a:r>
          </a:p>
          <a:p>
            <a:r>
              <a:rPr sz="750">
                <a:solidFill>
                  <a:srgbClr val="64748B"/>
                </a:solidFill>
              </a:rPr>
              <a:t>One button to start, one field to join — nothing else visible</a:t>
            </a:r>
          </a:p>
        </p:txBody>
      </p:sp>
      <p:sp>
        <p:nvSpPr>
          <p:cNvPr id="15" name="Oval 14"/>
          <p:cNvSpPr/>
          <p:nvPr/>
        </p:nvSpPr>
        <p:spPr>
          <a:xfrm>
            <a:off x="6272784" y="1737360"/>
            <a:ext cx="164592" cy="164592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82496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Consistent minimal design language</a:t>
            </a:r>
          </a:p>
          <a:p>
            <a:r>
              <a:rPr sz="750">
                <a:solidFill>
                  <a:srgbClr val="64748B"/>
                </a:solidFill>
              </a:rPr>
              <a:t>Same rounded buttons, same colors everywhere — very polished</a:t>
            </a:r>
          </a:p>
        </p:txBody>
      </p:sp>
      <p:sp>
        <p:nvSpPr>
          <p:cNvPr id="17" name="Oval 16"/>
          <p:cNvSpPr/>
          <p:nvPr/>
        </p:nvSpPr>
        <p:spPr>
          <a:xfrm>
            <a:off x="6272784" y="2231136"/>
            <a:ext cx="164592" cy="164592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176272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Chat panel is clean and usable</a:t>
            </a:r>
          </a:p>
          <a:p>
            <a:r>
              <a:rPr sz="750">
                <a:solidFill>
                  <a:srgbClr val="64748B"/>
                </a:solidFill>
              </a:rPr>
              <a:t>Activities sidebar is well-organised with tabs for chat, Q&amp;A, polls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706624"/>
            <a:ext cx="192024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706624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✗  ISSUES</a:t>
            </a:r>
          </a:p>
        </p:txBody>
      </p:sp>
      <p:sp>
        <p:nvSpPr>
          <p:cNvPr id="21" name="Oval 20"/>
          <p:cNvSpPr/>
          <p:nvPr/>
        </p:nvSpPr>
        <p:spPr>
          <a:xfrm>
            <a:off x="6272784" y="3072384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017520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No whiteboard whatsoever</a:t>
            </a:r>
          </a:p>
          <a:p>
            <a:r>
              <a:rPr sz="750">
                <a:solidFill>
                  <a:srgbClr val="64748B"/>
                </a:solidFill>
              </a:rPr>
              <a:t>Jamboard integration shut down 2024 — Meet has zero visual collaboration</a:t>
            </a:r>
          </a:p>
        </p:txBody>
      </p:sp>
      <p:sp>
        <p:nvSpPr>
          <p:cNvPr id="23" name="Oval 22"/>
          <p:cNvSpPr/>
          <p:nvPr/>
        </p:nvSpPr>
        <p:spPr>
          <a:xfrm>
            <a:off x="6272784" y="3566160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511296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Chat panel has no persistent history</a:t>
            </a:r>
          </a:p>
          <a:p>
            <a:r>
              <a:rPr sz="750">
                <a:solidFill>
                  <a:srgbClr val="64748B"/>
                </a:solidFill>
              </a:rPr>
              <a:t>Chat messages disappear when the meeting ends — no export</a:t>
            </a:r>
          </a:p>
        </p:txBody>
      </p:sp>
      <p:sp>
        <p:nvSpPr>
          <p:cNvPr id="25" name="Oval 24"/>
          <p:cNvSpPr/>
          <p:nvPr/>
        </p:nvSpPr>
        <p:spPr>
          <a:xfrm>
            <a:off x="6272784" y="4059936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005072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Home screen is almost too minimal</a:t>
            </a:r>
          </a:p>
          <a:p>
            <a:r>
              <a:rPr sz="750">
                <a:solidFill>
                  <a:srgbClr val="64748B"/>
                </a:solidFill>
              </a:rPr>
              <a:t>No upcoming meetings, no recent activity, no recordings accessible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4553712"/>
            <a:ext cx="7991856" cy="402336"/>
          </a:xfrm>
          <a:prstGeom prst="rect">
            <a:avLst/>
          </a:prstGeom>
          <a:solidFill>
            <a:srgbClr val="24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592" y="4553712"/>
            <a:ext cx="45720" cy="40233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4581144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C0D0E0"/>
                </a:solidFill>
              </a:rPr>
              <a:t>Verdict: Google Meet is the most visually refined platform — but it's been deliberately kept simple to the point where it's missing collaboration tools that teams genuinely need.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822960"/>
          </a:xfrm>
          <a:prstGeom prst="rect">
            <a:avLst/>
          </a:prstGeom>
          <a:solidFill>
            <a:srgbClr val="464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5486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Microsoft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DCEBFF"/>
                </a:solidFill>
              </a:rPr>
              <a:t>The enterprise Swiss Army knife — too many blades · $4/user/mo</a:t>
            </a:r>
          </a:p>
        </p:txBody>
      </p:sp>
      <p:pic>
        <p:nvPicPr>
          <p:cNvPr id="5" name="Picture 4" descr="teams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896112"/>
            <a:ext cx="3291840" cy="2487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4592" y="3419856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</a:rPr>
              <a:t>Main app — channels &amp; chat</a:t>
            </a:r>
          </a:p>
        </p:txBody>
      </p:sp>
      <p:pic>
        <p:nvPicPr>
          <p:cNvPr id="7" name="Picture 6" descr="te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896112"/>
            <a:ext cx="2542032" cy="1170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47872" y="2066543"/>
            <a:ext cx="2542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In-meeting view</a:t>
            </a:r>
          </a:p>
        </p:txBody>
      </p:sp>
      <p:pic>
        <p:nvPicPr>
          <p:cNvPr id="9" name="Picture 8" descr="teams_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2103120"/>
            <a:ext cx="2542032" cy="1170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47872" y="3273552"/>
            <a:ext cx="2542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Settings — App permissions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877824"/>
            <a:ext cx="1920240" cy="25603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877824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✓  WORKS WELL</a:t>
            </a:r>
          </a:p>
        </p:txBody>
      </p:sp>
      <p:sp>
        <p:nvSpPr>
          <p:cNvPr id="13" name="Oval 12"/>
          <p:cNvSpPr/>
          <p:nvPr/>
        </p:nvSpPr>
        <p:spPr>
          <a:xfrm>
            <a:off x="6272784" y="1243584"/>
            <a:ext cx="164592" cy="164592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88720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Everything is in one app</a:t>
            </a:r>
          </a:p>
          <a:p>
            <a:r>
              <a:rPr sz="750">
                <a:solidFill>
                  <a:srgbClr val="64748B"/>
                </a:solidFill>
              </a:rPr>
              <a:t>Chat, files, calendar, meetings, calls, tasks — genuinely one platform</a:t>
            </a:r>
          </a:p>
        </p:txBody>
      </p:sp>
      <p:sp>
        <p:nvSpPr>
          <p:cNvPr id="15" name="Oval 14"/>
          <p:cNvSpPr/>
          <p:nvPr/>
        </p:nvSpPr>
        <p:spPr>
          <a:xfrm>
            <a:off x="6272784" y="1737360"/>
            <a:ext cx="164592" cy="164592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82496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Persistent conversation threads</a:t>
            </a:r>
          </a:p>
          <a:p>
            <a:r>
              <a:rPr sz="750">
                <a:solidFill>
                  <a:srgbClr val="64748B"/>
                </a:solidFill>
              </a:rPr>
              <a:t>Channels keep context alive between meetings — nothing gets lost</a:t>
            </a:r>
          </a:p>
        </p:txBody>
      </p:sp>
      <p:sp>
        <p:nvSpPr>
          <p:cNvPr id="17" name="Oval 16"/>
          <p:cNvSpPr/>
          <p:nvPr/>
        </p:nvSpPr>
        <p:spPr>
          <a:xfrm>
            <a:off x="6272784" y="2231136"/>
            <a:ext cx="164592" cy="164592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176272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File co-editing works natively</a:t>
            </a:r>
          </a:p>
          <a:p>
            <a:r>
              <a:rPr sz="750">
                <a:solidFill>
                  <a:srgbClr val="64748B"/>
                </a:solidFill>
              </a:rPr>
              <a:t>Word/Excel/PowerPoint open inside Teams — strongest integration 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706624"/>
            <a:ext cx="192024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706624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✗  ISSUES</a:t>
            </a:r>
          </a:p>
        </p:txBody>
      </p:sp>
      <p:sp>
        <p:nvSpPr>
          <p:cNvPr id="21" name="Oval 20"/>
          <p:cNvSpPr/>
          <p:nvPr/>
        </p:nvSpPr>
        <p:spPr>
          <a:xfrm>
            <a:off x="6272784" y="3072384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017520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Three layers of navigation</a:t>
            </a:r>
          </a:p>
          <a:p>
            <a:r>
              <a:rPr sz="750">
                <a:solidFill>
                  <a:srgbClr val="64748B"/>
                </a:solidFill>
              </a:rPr>
              <a:t>Left icon nav → team list sidebar → channel area — three levels before you get to content</a:t>
            </a:r>
          </a:p>
        </p:txBody>
      </p:sp>
      <p:sp>
        <p:nvSpPr>
          <p:cNvPr id="23" name="Oval 22"/>
          <p:cNvSpPr/>
          <p:nvPr/>
        </p:nvSpPr>
        <p:spPr>
          <a:xfrm>
            <a:off x="6272784" y="3566160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511296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Settings has 12 categories</a:t>
            </a:r>
          </a:p>
          <a:p>
            <a:r>
              <a:rPr sz="750">
                <a:solidFill>
                  <a:srgbClr val="64748B"/>
                </a:solidFill>
              </a:rPr>
              <a:t>App permissions alone opens 3 more nested sections — for a meeting app</a:t>
            </a:r>
          </a:p>
        </p:txBody>
      </p:sp>
      <p:sp>
        <p:nvSpPr>
          <p:cNvPr id="25" name="Oval 24"/>
          <p:cNvSpPr/>
          <p:nvPr/>
        </p:nvSpPr>
        <p:spPr>
          <a:xfrm>
            <a:off x="6272784" y="4059936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005072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Meeting UI has no clear hierarchy</a:t>
            </a:r>
          </a:p>
          <a:p>
            <a:r>
              <a:rPr sz="750">
                <a:solidFill>
                  <a:srgbClr val="64748B"/>
                </a:solidFill>
              </a:rPr>
              <a:t>Video tiles, chat panel, and participant list all compete for space at equal weight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4553712"/>
            <a:ext cx="7991856" cy="402336"/>
          </a:xfrm>
          <a:prstGeom prst="rect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592" y="4553712"/>
            <a:ext cx="45720" cy="402336"/>
          </a:xfrm>
          <a:prstGeom prst="rect">
            <a:avLst/>
          </a:prstGeom>
          <a:solidFill>
            <a:srgbClr val="464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4581144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C0D0E0"/>
                </a:solidFill>
              </a:rPr>
              <a:t>Verdict: Teams is the only platform where you genuinely never need to leave the app — but the price you pay is navigating through layers of UI to find anything, every single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822960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5486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Cisco Webex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DCEBFF"/>
                </a:solidFill>
              </a:rPr>
              <a:t>Enterprise analytics built-in — interface stuck in 2018 · $14.50/user/mo</a:t>
            </a:r>
          </a:p>
        </p:txBody>
      </p:sp>
      <p:pic>
        <p:nvPicPr>
          <p:cNvPr id="5" name="Picture 4" descr="webex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896112"/>
            <a:ext cx="3291840" cy="2487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4592" y="3419856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</a:rPr>
              <a:t>Home — dashboard &amp; schedule</a:t>
            </a:r>
          </a:p>
        </p:txBody>
      </p:sp>
      <p:pic>
        <p:nvPicPr>
          <p:cNvPr id="7" name="Picture 6" descr="web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896112"/>
            <a:ext cx="2542032" cy="1170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47872" y="2066543"/>
            <a:ext cx="2542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In-meeting + analytics</a:t>
            </a:r>
          </a:p>
        </p:txBody>
      </p:sp>
      <p:pic>
        <p:nvPicPr>
          <p:cNvPr id="9" name="Picture 8" descr="webex_analy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2103120"/>
            <a:ext cx="2542032" cy="1170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47872" y="3273552"/>
            <a:ext cx="2542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Post-meeting analytics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877824"/>
            <a:ext cx="1920240" cy="25603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877824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✓  WORKS WELL</a:t>
            </a:r>
          </a:p>
        </p:txBody>
      </p:sp>
      <p:sp>
        <p:nvSpPr>
          <p:cNvPr id="13" name="Oval 12"/>
          <p:cNvSpPr/>
          <p:nvPr/>
        </p:nvSpPr>
        <p:spPr>
          <a:xfrm>
            <a:off x="6272784" y="1243584"/>
            <a:ext cx="164592" cy="164592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88720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Dashboard shows team analytics upfront</a:t>
            </a:r>
          </a:p>
          <a:p>
            <a:r>
              <a:rPr sz="750">
                <a:solidFill>
                  <a:srgbClr val="64748B"/>
                </a:solidFill>
              </a:rPr>
              <a:t>Meeting count, total time, join rate, engagement — on the home screen</a:t>
            </a:r>
          </a:p>
        </p:txBody>
      </p:sp>
      <p:sp>
        <p:nvSpPr>
          <p:cNvPr id="15" name="Oval 14"/>
          <p:cNvSpPr/>
          <p:nvPr/>
        </p:nvSpPr>
        <p:spPr>
          <a:xfrm>
            <a:off x="6272784" y="1737360"/>
            <a:ext cx="164592" cy="164592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82496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Post-meeting analytics are detailed</a:t>
            </a:r>
          </a:p>
          <a:p>
            <a:r>
              <a:rPr sz="750">
                <a:solidFill>
                  <a:srgbClr val="64748B"/>
                </a:solidFill>
              </a:rPr>
              <a:t>Speaking time per person, silent flags, action items captured automatically</a:t>
            </a:r>
          </a:p>
        </p:txBody>
      </p:sp>
      <p:sp>
        <p:nvSpPr>
          <p:cNvPr id="17" name="Oval 16"/>
          <p:cNvSpPr/>
          <p:nvPr/>
        </p:nvSpPr>
        <p:spPr>
          <a:xfrm>
            <a:off x="6272784" y="2231136"/>
            <a:ext cx="164592" cy="164592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176272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In-meeting analytics panel is live</a:t>
            </a:r>
          </a:p>
          <a:p>
            <a:r>
              <a:rPr sz="750">
                <a:solidFill>
                  <a:srgbClr val="64748B"/>
                </a:solidFill>
              </a:rPr>
              <a:t>Engagement and speaking data shown during the call — no other platform does this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706624"/>
            <a:ext cx="192024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706624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✗  ISSUES</a:t>
            </a:r>
          </a:p>
        </p:txBody>
      </p:sp>
      <p:sp>
        <p:nvSpPr>
          <p:cNvPr id="21" name="Oval 20"/>
          <p:cNvSpPr/>
          <p:nvPr/>
        </p:nvSpPr>
        <p:spPr>
          <a:xfrm>
            <a:off x="6272784" y="3072384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017520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Home screen feels cluttered and heavy</a:t>
            </a:r>
          </a:p>
          <a:p>
            <a:r>
              <a:rPr sz="750">
                <a:solidFill>
                  <a:srgbClr val="64748B"/>
                </a:solidFill>
              </a:rPr>
              <a:t>Too many sections, too much information density — visually exhausting</a:t>
            </a:r>
          </a:p>
        </p:txBody>
      </p:sp>
      <p:sp>
        <p:nvSpPr>
          <p:cNvPr id="23" name="Oval 22"/>
          <p:cNvSpPr/>
          <p:nvPr/>
        </p:nvSpPr>
        <p:spPr>
          <a:xfrm>
            <a:off x="6272784" y="3566160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511296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Interface uses dated visual patterns</a:t>
            </a:r>
          </a:p>
          <a:p>
            <a:r>
              <a:rPr sz="750">
                <a:solidFill>
                  <a:srgbClr val="64748B"/>
                </a:solidFill>
              </a:rPr>
              <a:t>Green accent on a dark theme feels like a 2019 enterprise dashboard</a:t>
            </a:r>
          </a:p>
        </p:txBody>
      </p:sp>
      <p:sp>
        <p:nvSpPr>
          <p:cNvPr id="25" name="Oval 24"/>
          <p:cNvSpPr/>
          <p:nvPr/>
        </p:nvSpPr>
        <p:spPr>
          <a:xfrm>
            <a:off x="6272784" y="4059936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005072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Complex navigation between analytics, meetings, calling</a:t>
            </a:r>
          </a:p>
          <a:p>
            <a:r>
              <a:rPr sz="750">
                <a:solidFill>
                  <a:srgbClr val="64748B"/>
                </a:solidFill>
              </a:rPr>
              <a:t>Three separate concepts in three separate sections — no unified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4553712"/>
            <a:ext cx="7991856" cy="402336"/>
          </a:xfrm>
          <a:prstGeom prst="rect">
            <a:avLst/>
          </a:prstGeom>
          <a:solidFill>
            <a:srgbClr val="0A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592" y="4553712"/>
            <a:ext cx="45720" cy="402336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4581144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C0D0E0"/>
                </a:solidFill>
              </a:rPr>
              <a:t>Verdict: Webex is the only platform that treats meeting analytics as a first-class feature — not a premium add-on. But the design language hasn't kept pace, and new users are put off before they discover any of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specific problems identified across all four platforms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114300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2064" y="12344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6968" y="12161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not configurable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86968" y="14904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can't set their in-meeting display name or profile easily — causes confusion in professional calls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205740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" y="21488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86968" y="21305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overload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6968" y="24048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Calendar, canvas, tasks, clips, sheets, slides — all crammed into one small menu nobody can navigate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97180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" y="3063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6968" y="30449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visual design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6968" y="33192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 looks completely different on Mac, Windows, mobile and web — destroys trust and familiarity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88620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9776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6968" y="39593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&amp; ad clutter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" y="42336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banners and upsell messages appear mid-session — unprofessional in a client-facing context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14300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82896" y="12344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7800" y="12161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navigation is hard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57800" y="14904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Joining, switching views, and finding controls is unintuitive — especially for first-time participants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05740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82896" y="21488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21305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Clunky breakout rooms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57800" y="24048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Pre-assigning participants takes too many steps. Drag-and-drop doesn't exist. Auto-assign is unreliable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97180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82896" y="3063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30449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is barely usable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257800" y="33192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tools, no persistence after the meeting ends, no way to export — effectively decorative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88620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82896" y="39776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57800" y="39593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sharing is one-way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57800" y="42336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sharing, collaboration stops. No annotation, no cursor sharing, no way for others to contribute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KEEP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proven features worth building on — not replacing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8229600" cy="0"/>
          </a:xfrm>
          <a:prstGeom prst="line">
            <a:avLst/>
          </a:prstGeom>
          <a:noFill/>
          <a:ln w="7620">
            <a:solidFill>
              <a:srgbClr val="1A2E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25296"/>
            <a:ext cx="219456" cy="219456"/>
          </a:xfrm>
          <a:prstGeom prst="ellipse">
            <a:avLst/>
          </a:prstGeom>
          <a:solidFill>
            <a:srgbClr val="2DA4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1207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rooms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08960" y="1207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workshops, training, and team collaboration. Exists in Zoom &amp; Teams — but needs to actually work smoothly.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09560" y="12252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in: Zoom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002536"/>
            <a:ext cx="8229600" cy="0"/>
          </a:xfrm>
          <a:prstGeom prst="line">
            <a:avLst/>
          </a:prstGeom>
          <a:noFill/>
          <a:ln w="7620">
            <a:solidFill>
              <a:srgbClr val="1A2E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709928"/>
            <a:ext cx="219456" cy="219456"/>
          </a:xfrm>
          <a:prstGeom prst="ellipse">
            <a:avLst/>
          </a:prstGeom>
          <a:solidFill>
            <a:srgbClr val="2DA4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69164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41248" y="16916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08960" y="1691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audience engagement. Drives participation and gives hosts real-time feedback on comprehension and sentiment.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09560" y="1709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in: Zoom / Teams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487168"/>
            <a:ext cx="8229600" cy="0"/>
          </a:xfrm>
          <a:prstGeom prst="line">
            <a:avLst/>
          </a:prstGeom>
          <a:noFill/>
          <a:ln w="7620">
            <a:solidFill>
              <a:srgbClr val="1A2E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194560"/>
            <a:ext cx="219456" cy="219456"/>
          </a:xfrm>
          <a:prstGeom prst="ellipse">
            <a:avLst/>
          </a:prstGeom>
          <a:solidFill>
            <a:srgbClr val="2DA4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17627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1248" y="21762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108960" y="2176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collaboration is a core meeting need — but the implementation across all platforms is too limited.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09560" y="21945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in: All platforms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2971800"/>
            <a:ext cx="8229600" cy="0"/>
          </a:xfrm>
          <a:prstGeom prst="line">
            <a:avLst/>
          </a:prstGeom>
          <a:noFill/>
          <a:ln w="7620">
            <a:solidFill>
              <a:srgbClr val="1A2E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679192"/>
            <a:ext cx="219456" cy="219456"/>
          </a:xfrm>
          <a:prstGeom prst="ellipse">
            <a:avLst/>
          </a:prstGeom>
          <a:solidFill>
            <a:srgbClr val="2DA4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660904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" y="26609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108960" y="26609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Non-verbal feedback without interrupting the speaker. Low bandwidth, high signal — a proven UX pattern.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09560" y="26791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in: All platforms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3456432"/>
            <a:ext cx="8229600" cy="0"/>
          </a:xfrm>
          <a:prstGeom prst="line">
            <a:avLst/>
          </a:prstGeom>
          <a:noFill/>
          <a:ln w="7620">
            <a:solidFill>
              <a:srgbClr val="1A2E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163824"/>
            <a:ext cx="219456" cy="219456"/>
          </a:xfrm>
          <a:prstGeom prst="ellipse">
            <a:avLst/>
          </a:prstGeom>
          <a:solidFill>
            <a:srgbClr val="2DA4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1455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" y="31455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Post-meeting file retrieval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108960" y="31455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PDFs, spreadsheets, and documents should be retrievable after the meeting. Currently unreliable or missing.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09560" y="31638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in: Teams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3941064"/>
            <a:ext cx="8229600" cy="0"/>
          </a:xfrm>
          <a:prstGeom prst="line">
            <a:avLst/>
          </a:prstGeom>
          <a:noFill/>
          <a:ln w="7620">
            <a:solidFill>
              <a:srgbClr val="1A2E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648456"/>
            <a:ext cx="219456" cy="219456"/>
          </a:xfrm>
          <a:prstGeom prst="ellipse">
            <a:avLst/>
          </a:prstGeom>
          <a:solidFill>
            <a:srgbClr val="2DA4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63016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1248" y="36301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integration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108960" y="3630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scheduling, reminders, and joining directly from calendar events. Table stakes for professional use.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909560" y="36484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in: All platforms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" y="4425696"/>
            <a:ext cx="8229600" cy="0"/>
          </a:xfrm>
          <a:prstGeom prst="line">
            <a:avLst/>
          </a:prstGeom>
          <a:noFill/>
          <a:ln w="7620">
            <a:solidFill>
              <a:srgbClr val="1A2E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4133088"/>
            <a:ext cx="219456" cy="219456"/>
          </a:xfrm>
          <a:prstGeom prst="ellipse">
            <a:avLst/>
          </a:prstGeom>
          <a:solidFill>
            <a:srgbClr val="2DA4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11480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41248" y="41148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meeting view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3108960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participant visible at once. Removes social anxiety about being overlooked. Default view for &lt;10 people.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909560" y="4133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in: Zoom / Meet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4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ADD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 that don't exist well anywhere — yet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11430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271016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2DA44E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2710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A44E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" y="125272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participant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527048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Host-only intelligence layer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352" y="178308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speaking time per person, silent participant flags, engagement heatmap. Toggleable in settings so it never feels intrusive. Gives hosts actionable signals mid-meeting — not just post-meeting data.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35000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No competitor does this in real time. Closest is Teams Insights — but only available post-meeting in Premium tier ($12 extra).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01184" y="1271016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014592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12710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4592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68112" y="125272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Auto-chapter meeting replay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68112" y="1527048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14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2:15 = Intro · 14:35 = Summary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01184" y="178308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recorded meeting is automatically segmented into chapters with timestamps — Opening, Q1 Review, Product Updates, Action Items, Closing. Click any chapter to jump straight to it. No manual work.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01184" y="235000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Existing replay tools just show a flat video timeline. Auto-chapters are a genuine productivity multiplier for anyone who missed a meeting.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9718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099816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D97706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099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" y="308152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metrics 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355848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· Engagement · Participation 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" y="361188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Per-meeting: total duration, engagement score (high/medium/low based on reactions, chat, speaking), participation percentage, and number of action items captured. Exportable as a report.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0352" y="417880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Teams Premium offers basic analytics at extra cost. RDS Meet includes this in the Professional tier — a direct differentiator.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01184" y="3099816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A855F7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901184" y="3099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68112" y="308152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meeting summary (MoM)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68112" y="3355848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feature — after scale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01184" y="361188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Minutes of Meeting generated post-call. Key decisions, assigned action items, unresolved questions — all structured and emailed to participants. Optional; can be turned off for sensitive calls.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01184" y="417880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Notion AI, Otter.ai and Fireflies offer this as standalone tools at $8-16/mo. RDS Meet bundles it — removing a tool from the stack.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high-growth market with clear room for a better product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474720" cy="347472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554480"/>
            <a:ext cx="2468880" cy="2468880"/>
          </a:xfrm>
          <a:prstGeom prst="ellipse">
            <a:avLst/>
          </a:prstGeom>
          <a:solidFill>
            <a:srgbClr val="0E3A6E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2011680"/>
            <a:ext cx="1554480" cy="1554480"/>
          </a:xfrm>
          <a:prstGeom prst="ellipse">
            <a:avLst/>
          </a:prstGeom>
          <a:solidFill>
            <a:srgbClr val="014592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170432"/>
            <a:ext cx="3438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A6EA8"/>
                </a:solidFill>
              </a:rPr>
              <a:t>TAM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A6EA8"/>
                </a:solidFill>
              </a:rPr>
              <a:t>$19.4B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1572768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BEAFE"/>
                </a:solidFill>
              </a:rPr>
              <a:t>SAM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BEAFE"/>
                </a:solidFill>
              </a:rPr>
              <a:t>$4.2B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44168" y="2084832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SOM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$42M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1E2A3B"/>
          </a:solidFill>
          <a:ln/>
        </p:spPr>
      </p:sp>
      <p:sp>
        <p:nvSpPr>
          <p:cNvPr id="11" name="Text 9"/>
          <p:cNvSpPr/>
          <p:nvPr/>
        </p:nvSpPr>
        <p:spPr>
          <a:xfrm>
            <a:off x="4791456" y="1225296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44768" y="1261872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of video conferencing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2023 → 2030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10312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1E2A3B"/>
          </a:solidFill>
          <a:ln/>
        </p:spPr>
      </p:sp>
      <p:sp>
        <p:nvSpPr>
          <p:cNvPr id="14" name="Text 12"/>
          <p:cNvSpPr/>
          <p:nvPr/>
        </p:nvSpPr>
        <p:spPr>
          <a:xfrm>
            <a:off x="4791456" y="2157984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44768" y="219456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companies plan to increase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meeting investment in 2025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035808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1E2A3B"/>
          </a:solidFill>
          <a:ln/>
        </p:spPr>
      </p:sp>
      <p:sp>
        <p:nvSpPr>
          <p:cNvPr id="17" name="Text 15"/>
          <p:cNvSpPr/>
          <p:nvPr/>
        </p:nvSpPr>
        <p:spPr>
          <a:xfrm>
            <a:off x="4791456" y="3090672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5.3×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44768" y="3127248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remote &amp;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work since 2020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968496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1E2A3B"/>
          </a:solidFill>
          <a:ln/>
        </p:spPr>
      </p:sp>
      <p:sp>
        <p:nvSpPr>
          <p:cNvPr id="20" name="Text 18"/>
          <p:cNvSpPr/>
          <p:nvPr/>
        </p:nvSpPr>
        <p:spPr>
          <a:xfrm>
            <a:off x="4791456" y="4023360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$8-16/mo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144768" y="4059936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per employee 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AI meeting tools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45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Meet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best of Zoom, Meet, Teams and Webex.</a:t>
            </a:r>
            <a:endParaRPr lang="en-US" sz="16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what slows you down.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457200" y="2395728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39572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lobby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33472" y="2395728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633472" y="239572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Pre-join camera check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9744" y="2395728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809744" y="239572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meeting room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86016" y="2395728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986016" y="239572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&amp; speaker view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5409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whiteboard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33472" y="3054096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633472" y="305409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 breakout rooms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9744" y="3054096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09744" y="305409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chat + replies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86016" y="3054096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986016" y="305409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⌘K global search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12464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1246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history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33472" y="3712464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633472" y="371246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Auto-chapter replay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9744" y="3712464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09744" y="371246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analytics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86016" y="3712464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986016" y="371246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+ live cam preview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4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of the meeting experience — fully wired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14400" y="1682496"/>
            <a:ext cx="74066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463040"/>
            <a:ext cx="438912" cy="438912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48256"/>
            <a:ext cx="1627632" cy="26060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" y="2505456"/>
            <a:ext cx="13533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2596896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today's meetings. Live badge shows who's in. Join a live session or preview an upcoming one.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" y="3639312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2DA44E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36393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live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88920" y="1463040"/>
            <a:ext cx="438912" cy="438912"/>
          </a:xfrm>
          <a:prstGeom prst="ellipse">
            <a:avLst/>
          </a:prstGeom>
          <a:solidFill>
            <a:srgbClr val="014592"/>
          </a:solidFill>
          <a:ln/>
        </p:spPr>
      </p:sp>
      <p:sp>
        <p:nvSpPr>
          <p:cNvPr id="14" name="Text 12"/>
          <p:cNvSpPr/>
          <p:nvPr/>
        </p:nvSpPr>
        <p:spPr>
          <a:xfrm>
            <a:off x="278892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94560" y="2048256"/>
            <a:ext cx="1627632" cy="26060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22576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Pre-join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22576" y="2505456"/>
            <a:ext cx="13533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22576" y="2596896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webcam preview. Toggle mic &amp; camera. See participant count before entering.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22576" y="3639312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014592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322576" y="36393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14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mic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14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camera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26280" y="1463040"/>
            <a:ext cx="438912" cy="438912"/>
          </a:xfrm>
          <a:prstGeom prst="ellipse">
            <a:avLst/>
          </a:prstGeom>
          <a:solidFill>
            <a:srgbClr val="1A6FD4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931920" y="2048256"/>
            <a:ext cx="1627632" cy="26060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059936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meeting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059936" y="2505456"/>
            <a:ext cx="13533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59936" y="2596896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or speaker view. Waiting room, reactions, hand raise, record, screen share — all functional.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059936" y="3639312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1A6FD4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059936" y="36393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1463040"/>
            <a:ext cx="438912" cy="43891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669280" y="2048256"/>
            <a:ext cx="1627632" cy="26060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797296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797296" y="2505456"/>
            <a:ext cx="13533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97296" y="2596896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whiteboard to draw live. Move people between breakout rooms with drag and drop.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97296" y="3639312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D97706">
              <a:alpha val="1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797296" y="36393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rooms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01000" y="1463040"/>
            <a:ext cx="438912" cy="438912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38" name="Text 36"/>
          <p:cNvSpPr/>
          <p:nvPr/>
        </p:nvSpPr>
        <p:spPr>
          <a:xfrm>
            <a:off x="800100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06640" y="2048256"/>
            <a:ext cx="1627632" cy="26060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534656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534656" y="2505456"/>
            <a:ext cx="13533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34656" y="2596896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before exit. Meeting moves instantly to history with timer, recording, and summary.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534656" y="3639312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6B21A8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534656" y="36393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history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Meet vs the market — where we win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47472" y="1207008"/>
            <a:ext cx="2560320" cy="329184"/>
          </a:xfrm>
          <a:prstGeom prst="roundRect">
            <a:avLst>
              <a:gd name="adj" fmla="val 11111"/>
            </a:avLst>
          </a:prstGeom>
          <a:solidFill>
            <a:srgbClr val="162032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20700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44368" y="1207008"/>
            <a:ext cx="1170432" cy="329184"/>
          </a:xfrm>
          <a:prstGeom prst="roundRect">
            <a:avLst>
              <a:gd name="adj" fmla="val 11111"/>
            </a:avLst>
          </a:prstGeom>
          <a:solidFill>
            <a:srgbClr val="014592"/>
          </a:solidFill>
          <a:ln/>
        </p:spPr>
      </p:sp>
      <p:sp>
        <p:nvSpPr>
          <p:cNvPr id="7" name="Text 5"/>
          <p:cNvSpPr/>
          <p:nvPr/>
        </p:nvSpPr>
        <p:spPr>
          <a:xfrm>
            <a:off x="2944368" y="120700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Meet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51376" y="1207008"/>
            <a:ext cx="1170432" cy="329184"/>
          </a:xfrm>
          <a:prstGeom prst="roundRect">
            <a:avLst>
              <a:gd name="adj" fmla="val 11111"/>
            </a:avLst>
          </a:prstGeom>
          <a:solidFill>
            <a:srgbClr val="162032"/>
          </a:solidFill>
          <a:ln/>
        </p:spPr>
      </p:sp>
      <p:sp>
        <p:nvSpPr>
          <p:cNvPr id="9" name="Text 7"/>
          <p:cNvSpPr/>
          <p:nvPr/>
        </p:nvSpPr>
        <p:spPr>
          <a:xfrm>
            <a:off x="4151376" y="120700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Pro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58384" y="1207008"/>
            <a:ext cx="1298448" cy="329184"/>
          </a:xfrm>
          <a:prstGeom prst="roundRect">
            <a:avLst>
              <a:gd name="adj" fmla="val 11111"/>
            </a:avLst>
          </a:prstGeom>
          <a:solidFill>
            <a:srgbClr val="162032"/>
          </a:solidFill>
          <a:ln/>
        </p:spPr>
      </p:sp>
      <p:sp>
        <p:nvSpPr>
          <p:cNvPr id="11" name="Text 9"/>
          <p:cNvSpPr/>
          <p:nvPr/>
        </p:nvSpPr>
        <p:spPr>
          <a:xfrm>
            <a:off x="5358384" y="120700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93408" y="1207008"/>
            <a:ext cx="1078992" cy="329184"/>
          </a:xfrm>
          <a:prstGeom prst="roundRect">
            <a:avLst>
              <a:gd name="adj" fmla="val 11111"/>
            </a:avLst>
          </a:prstGeom>
          <a:solidFill>
            <a:srgbClr val="162032"/>
          </a:solidFill>
          <a:ln/>
        </p:spPr>
      </p:sp>
      <p:sp>
        <p:nvSpPr>
          <p:cNvPr id="13" name="Text 11"/>
          <p:cNvSpPr/>
          <p:nvPr/>
        </p:nvSpPr>
        <p:spPr>
          <a:xfrm>
            <a:off x="6693408" y="120700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08976" y="1207008"/>
            <a:ext cx="1078992" cy="329184"/>
          </a:xfrm>
          <a:prstGeom prst="roundRect">
            <a:avLst>
              <a:gd name="adj" fmla="val 11111"/>
            </a:avLst>
          </a:prstGeom>
          <a:solidFill>
            <a:srgbClr val="162032"/>
          </a:solidFill>
          <a:ln/>
        </p:spPr>
      </p:sp>
      <p:sp>
        <p:nvSpPr>
          <p:cNvPr id="15" name="Text 13"/>
          <p:cNvSpPr/>
          <p:nvPr/>
        </p:nvSpPr>
        <p:spPr>
          <a:xfrm>
            <a:off x="7808976" y="120700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Webex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1591056"/>
            <a:ext cx="2560320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5910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Pre-join camera preview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44368" y="1591056"/>
            <a:ext cx="1170432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44368" y="159105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51376" y="1591056"/>
            <a:ext cx="1170432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51376" y="159105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58384" y="1591056"/>
            <a:ext cx="1298448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58384" y="159105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93408" y="1591056"/>
            <a:ext cx="1078992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93408" y="1591056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808976" y="1591056"/>
            <a:ext cx="1078992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08976" y="1591056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" y="1984248"/>
            <a:ext cx="256032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19842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Auto-chapter meeting replay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44368" y="1984248"/>
            <a:ext cx="1170432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44368" y="198424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151376" y="1984248"/>
            <a:ext cx="1170432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51376" y="198424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58384" y="1984248"/>
            <a:ext cx="1298448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58384" y="198424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693408" y="1984248"/>
            <a:ext cx="1078992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93408" y="198424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808976" y="1984248"/>
            <a:ext cx="1078992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08976" y="198424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47472" y="2377440"/>
            <a:ext cx="2560320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participant analysis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44368" y="2377440"/>
            <a:ext cx="1170432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44368" y="23774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151376" y="2377440"/>
            <a:ext cx="1170432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51376" y="23774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358384" y="2377440"/>
            <a:ext cx="1298448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58384" y="2377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693408" y="2377440"/>
            <a:ext cx="1078992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93408" y="237744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only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808976" y="2377440"/>
            <a:ext cx="1078992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08976" y="237744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47472" y="2770632"/>
            <a:ext cx="256032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27706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 breakout rooms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944368" y="2770632"/>
            <a:ext cx="1170432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44368" y="277063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151376" y="2770632"/>
            <a:ext cx="1170432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51376" y="277063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358384" y="2770632"/>
            <a:ext cx="1298448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58384" y="27706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693408" y="2770632"/>
            <a:ext cx="1078992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93408" y="277063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7808976" y="2770632"/>
            <a:ext cx="1078992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08976" y="277063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347472" y="3163824"/>
            <a:ext cx="2560320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7472" y="31638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score per meeting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944368" y="3163824"/>
            <a:ext cx="1170432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44368" y="316382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151376" y="3163824"/>
            <a:ext cx="1170432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51376" y="316382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358384" y="3163824"/>
            <a:ext cx="1298448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58384" y="316382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693408" y="3163824"/>
            <a:ext cx="1078992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93408" y="3163824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only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808976" y="3163824"/>
            <a:ext cx="1078992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08976" y="3163824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47472" y="3557016"/>
            <a:ext cx="256032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7472" y="35570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whiteboard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944368" y="3557016"/>
            <a:ext cx="1170432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44368" y="355701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151376" y="3557016"/>
            <a:ext cx="1170432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151376" y="355701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358384" y="3557016"/>
            <a:ext cx="1298448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358384" y="355701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6693408" y="3557016"/>
            <a:ext cx="1078992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693408" y="3557016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7808976" y="3557016"/>
            <a:ext cx="1078992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808976" y="3557016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347472" y="3950208"/>
            <a:ext cx="2560320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47472" y="3950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meeting summary (Phase 3)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944368" y="3950208"/>
            <a:ext cx="1170432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944368" y="395020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4151376" y="3950208"/>
            <a:ext cx="1170432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151376" y="395020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5358384" y="3950208"/>
            <a:ext cx="1298448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358384" y="395020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6693408" y="3950208"/>
            <a:ext cx="1078992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693408" y="395020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7808976" y="3950208"/>
            <a:ext cx="1078992" cy="365760"/>
          </a:xfrm>
          <a:prstGeom prst="rect">
            <a:avLst/>
          </a:prstGeom>
          <a:solidFill>
            <a:srgbClr val="1E2A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808976" y="395020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347472" y="4343400"/>
            <a:ext cx="256032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47472" y="4343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user / month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2944368" y="4343400"/>
            <a:ext cx="1170432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944368" y="434340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4151376" y="4343400"/>
            <a:ext cx="1170432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151376" y="434340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$15.99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5358384" y="4343400"/>
            <a:ext cx="1298448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358384" y="43434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$6*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6693408" y="4343400"/>
            <a:ext cx="1078992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693408" y="434340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$4*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7808976" y="4343400"/>
            <a:ext cx="1078992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808976" y="434340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$14.50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347472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Limited feature set at base price. Full parity requires Google Workspace Business Plus ($18/user) or Teams Premium ($10 add-on).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4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internal tool to full platform — in four phases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47472" y="1170432"/>
            <a:ext cx="2048256" cy="310896"/>
          </a:xfrm>
          <a:prstGeom prst="roundRect">
            <a:avLst>
              <a:gd name="adj" fmla="val 17647"/>
            </a:avLst>
          </a:prstGeom>
          <a:solidFill>
            <a:srgbClr val="2DA44E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170432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A44E"/>
                </a:solidFill>
              </a:rPr>
              <a:t>Phase 1 · Q3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1517904"/>
            <a:ext cx="2048256" cy="342900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" y="162763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" y="194767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RDS company only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" y="2231136"/>
            <a:ext cx="173736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32257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Core video meetings (up to 50 pax)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3776" y="259689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Screen share + meeting chat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3776" y="287121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Calendar integration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3776" y="314553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Waiting room + lobby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3776" y="341985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Basic meeting history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3776" y="369417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Settings with cam preview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3776" y="4023360"/>
            <a:ext cx="173736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409651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3776" y="429768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Internal NPS &gt; 8.0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3776" y="451713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Zero critical bugs in 30 days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3776" y="473659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Avg join time &lt; 10 seconds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42032" y="1170432"/>
            <a:ext cx="2048256" cy="310896"/>
          </a:xfrm>
          <a:prstGeom prst="roundRect">
            <a:avLst>
              <a:gd name="adj" fmla="val 17647"/>
            </a:avLst>
          </a:prstGeom>
          <a:solidFill>
            <a:srgbClr val="014592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542032" y="1170432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4592"/>
                </a:solidFill>
              </a:rPr>
              <a:t>Phase 2 · Q1 2027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42032" y="1517904"/>
            <a:ext cx="2048256" cy="342900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88336" y="162763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688336" y="194767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4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— existing clients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88336" y="2231136"/>
            <a:ext cx="173736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88336" y="232257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Up to 300 participants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88336" y="259689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Breakout rooms (drag-drop)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688336" y="287121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Whiteboard + drawing tools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688336" y="314553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Full meeting replay + chapters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88336" y="341985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Engagement analytics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688336" y="369417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Mobile app (iOS + Android)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88336" y="4023360"/>
            <a:ext cx="173736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88336" y="409651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14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688336" y="429768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14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50+ paying external companies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688336" y="451713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14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Churn rate &lt; 5%/month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688336" y="473659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14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MRR target: $25,000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36592" y="1170432"/>
            <a:ext cx="2048256" cy="310896"/>
          </a:xfrm>
          <a:prstGeom prst="roundRect">
            <a:avLst>
              <a:gd name="adj" fmla="val 17647"/>
            </a:avLst>
          </a:prstGeom>
          <a:solidFill>
            <a:srgbClr val="D97706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736592" y="1170432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Phase 3 · Q3 2027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36592" y="1517904"/>
            <a:ext cx="2048256" cy="342900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82896" y="162763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882896" y="194767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 — AI-powered features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82896" y="2231136"/>
            <a:ext cx="173736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82896" y="232257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meeting summary (MoM)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82896" y="259689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Real-time transcription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82896" y="287121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Smart action item tracking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82896" y="314553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Sentiment analysis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82896" y="341985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Calendar AI sync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82896" y="369417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Noise cancellation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82896" y="4023360"/>
            <a:ext cx="173736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82896" y="409651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82896" y="429768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feature adoption &gt; 60%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82896" y="451713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MoM accuracy &gt; 85%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82896" y="473659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ARR target: $500K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931152" y="1170432"/>
            <a:ext cx="2048256" cy="310896"/>
          </a:xfrm>
          <a:prstGeom prst="roundRect">
            <a:avLst>
              <a:gd name="adj" fmla="val 17647"/>
            </a:avLst>
          </a:prstGeom>
          <a:solidFill>
            <a:srgbClr val="6B21A8">
              <a:alpha val="1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931152" y="1170432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21A8"/>
                </a:solidFill>
              </a:rPr>
              <a:t>Phase 4 · 2028+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931152" y="1517904"/>
            <a:ext cx="2048256" cy="342900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077456" y="162763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7077456" y="194767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platform at scale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077456" y="2231136"/>
            <a:ext cx="173736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77456" y="232257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Plugin marketplace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077456" y="259689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Developer API (public)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077456" y="287121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3rd party integrations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077456" y="314553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White-label option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077456" y="341985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Custom workflow builder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077456" y="369417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Revenue share for plugins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077456" y="4023360"/>
            <a:ext cx="173736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77456" y="409651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077456" y="429768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100+ plugin partners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077456" y="451713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Platform ARR &gt; $2M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077456" y="473659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NPS &gt; 9.0 across all tiers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acquire, activate, and retain customers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1234440"/>
            <a:ext cx="4114800" cy="1719072"/>
          </a:xfrm>
          <a:prstGeom prst="roundRect">
            <a:avLst>
              <a:gd name="adj" fmla="val 5319"/>
            </a:avLst>
          </a:prstGeom>
          <a:solidFill>
            <a:srgbClr val="1E2A3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36245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2DA44E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3624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A44E"/>
                </a:solidFill>
              </a:rPr>
              <a:t>Phase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61872" y="134416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launch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" y="170992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 to all RDS employees first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352" y="200253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Run 90-day internal feedback sprint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295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Fix critical issues before any external exposure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" y="258775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internal champions who advocate externally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4114800" cy="1719072"/>
          </a:xfrm>
          <a:prstGeom prst="roundRect">
            <a:avLst>
              <a:gd name="adj" fmla="val 5319"/>
            </a:avLst>
          </a:prstGeom>
          <a:solidFill>
            <a:srgbClr val="1E2A3B"/>
          </a:solidFill>
          <a:ln/>
        </p:spPr>
      </p:sp>
      <p:sp>
        <p:nvSpPr>
          <p:cNvPr id="13" name="Shape 11"/>
          <p:cNvSpPr/>
          <p:nvPr/>
        </p:nvSpPr>
        <p:spPr>
          <a:xfrm>
            <a:off x="4901184" y="136245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014592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901184" y="13624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4592"/>
                </a:solidFill>
              </a:rPr>
              <a:t>Phase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32704" y="134416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Client-led expansion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01184" y="170992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Offer existing RDS clients free 3-month trial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01184" y="200253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Client success team handles onboarding personally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01184" y="2295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Referral incentive: 1 free month per referred company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01184" y="258775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Target: 50 paying companies within 6 months of launch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136392"/>
            <a:ext cx="4114800" cy="1719072"/>
          </a:xfrm>
          <a:prstGeom prst="roundRect">
            <a:avLst>
              <a:gd name="adj" fmla="val 5319"/>
            </a:avLst>
          </a:prstGeom>
          <a:solidFill>
            <a:srgbClr val="1E2A3B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" y="3264408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D97706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2644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Phase 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61872" y="324612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+ content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0352" y="361188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LinkedIn content showing meeting analytics data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52" y="390448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Case studies from Phase 2 clients with real metrics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0352" y="419709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Partnerships with Indonesian IT resellers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0352" y="44897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Attend tech/enterprise conferences in SEA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136392"/>
            <a:ext cx="4114800" cy="1719072"/>
          </a:xfrm>
          <a:prstGeom prst="roundRect">
            <a:avLst>
              <a:gd name="adj" fmla="val 5319"/>
            </a:avLst>
          </a:prstGeom>
          <a:solidFill>
            <a:srgbClr val="1E2A3B"/>
          </a:solidFill>
          <a:ln/>
        </p:spPr>
      </p:sp>
      <p:sp>
        <p:nvSpPr>
          <p:cNvPr id="29" name="Shape 27"/>
          <p:cNvSpPr/>
          <p:nvPr/>
        </p:nvSpPr>
        <p:spPr>
          <a:xfrm>
            <a:off x="4901184" y="3264408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6B21A8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901184" y="32644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21A8"/>
                </a:solidFill>
              </a:rPr>
              <a:t>Phase 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32704" y="324612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+ PLG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901184" y="361188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Free tier drives organic top-of-funnel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01184" y="390448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In-app upgrade prompts at key moments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01184" y="419709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Developer community around the plugin API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01184" y="44897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 marketplace listings (G2, Capterra, etc.)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4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SaaS pricing — designed to undercut Zoom, match Webex value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2029968" cy="36576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2064" y="1316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" y="15910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&amp; small teams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2064" y="18470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12064" y="23591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12064" y="2615184"/>
            <a:ext cx="1737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70662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40-min meeting cap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" y="302666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Max 10 participants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33467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screen share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36667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Chat messaging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" y="398678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7-day meeting history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430682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breakout rooms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3776" y="462686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analytics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3776" y="49469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AI features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42032" y="1170432"/>
            <a:ext cx="2029968" cy="36576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88336" y="1316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88336" y="15910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88336" y="18470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688336" y="23591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/user/month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688336" y="2615184"/>
            <a:ext cx="1737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0048" y="270662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duration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70048" y="302666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 to 50 participants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70048" y="33467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30-day meeting history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70048" y="36667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Calendar sync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70048" y="398678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support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70048" y="430682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core features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70048" y="462686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breakout rooms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70048" y="49469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AI summary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18304" y="1170432"/>
            <a:ext cx="2029968" cy="3657600"/>
          </a:xfrm>
          <a:prstGeom prst="roundRect">
            <a:avLst>
              <a:gd name="adj" fmla="val 5405"/>
            </a:avLst>
          </a:prstGeom>
          <a:solidFill>
            <a:srgbClr val="014592"/>
          </a:solidFill>
          <a:ln w="12700">
            <a:solidFill>
              <a:srgbClr val="01459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75504" y="987552"/>
            <a:ext cx="1115568" cy="274320"/>
          </a:xfrm>
          <a:prstGeom prst="roundRect">
            <a:avLst>
              <a:gd name="adj" fmla="val 20000"/>
            </a:avLst>
          </a:prstGeom>
          <a:solidFill>
            <a:srgbClr val="2DA44E"/>
          </a:solidFill>
          <a:ln/>
        </p:spPr>
      </p:sp>
      <p:sp>
        <p:nvSpPr>
          <p:cNvPr id="34" name="Text 32"/>
          <p:cNvSpPr/>
          <p:nvPr/>
        </p:nvSpPr>
        <p:spPr>
          <a:xfrm>
            <a:off x="5175504" y="98755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MOST POPULAR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64608" y="1316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64608" y="15910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companies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64608" y="18470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4864608" y="23591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/user/month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64608" y="2615184"/>
            <a:ext cx="1737360" cy="0"/>
          </a:xfrm>
          <a:prstGeom prst="line">
            <a:avLst/>
          </a:prstGeom>
          <a:noFill/>
          <a:ln w="8890">
            <a:solidFill>
              <a:srgbClr val="1A4F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70662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 to 300 participants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302666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Breakout rooms + whiteboard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33467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analytics + engagement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36667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Auto-chapter replay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398678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summary (MoM)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46320" y="430682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 + SLA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94576" y="1170432"/>
            <a:ext cx="2029968" cy="36576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040880" y="1316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040880" y="15910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organisations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40880" y="18470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040880" y="23591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sales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040880" y="2615184"/>
            <a:ext cx="1737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22592" y="270662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participants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022592" y="302666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SSO + SAML + 2FA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22592" y="33467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Plugin marketplace access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022592" y="36667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Developer API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022592" y="398678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CSM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022592" y="430682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SLA + uptime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billing: 20% discount (equivalent to 2 months free)  ·  Volume discount available for 500+ seat contracts  ·  All prices in USD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3-year forecast based on phased rollout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1207008"/>
            <a:ext cx="2816352" cy="292608"/>
          </a:xfrm>
          <a:prstGeom prst="roundRect">
            <a:avLst>
              <a:gd name="adj" fmla="val 15625"/>
            </a:avLst>
          </a:prstGeom>
          <a:solidFill>
            <a:srgbClr val="2DA44E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207008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A44E"/>
                </a:solidFill>
              </a:rPr>
              <a:t>Year 1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" y="1591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+ Pilot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488" y="195681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users (RDS)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20240" y="19568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40864" y="195681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22576" y="195681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$700/mo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45059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pilot clients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20240" y="24505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40864" y="24505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 avg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22576" y="245059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$2,100/mo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907792"/>
            <a:ext cx="2816352" cy="384048"/>
          </a:xfrm>
          <a:prstGeom prst="rect">
            <a:avLst/>
          </a:prstGeom>
          <a:solidFill>
            <a:srgbClr val="2DA44E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94436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MRR (end of year)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22576" y="294436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3401568"/>
            <a:ext cx="2816352" cy="384048"/>
          </a:xfrm>
          <a:prstGeom prst="rect">
            <a:avLst/>
          </a:prstGeom>
          <a:solidFill>
            <a:srgbClr val="2DA44E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438144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22576" y="343814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~$33,600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46704" y="1207008"/>
            <a:ext cx="2816352" cy="292608"/>
          </a:xfrm>
          <a:prstGeom prst="roundRect">
            <a:avLst>
              <a:gd name="adj" fmla="val 15625"/>
            </a:avLst>
          </a:prstGeom>
          <a:solidFill>
            <a:srgbClr val="014592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346704" y="1207008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4592"/>
                </a:solidFill>
              </a:rPr>
              <a:t>Year 2 · 2027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0" y="1591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Launch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74720" y="195681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users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19472" y="19568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40096" y="195681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21808" y="195681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$720/mo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74720" y="245059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users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19472" y="24505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40096" y="24505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21808" y="245059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$3,920/mo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0" y="294436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contracts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19472" y="294436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40096" y="29443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$800/mo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21808" y="294436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$1,600/mo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46704" y="3401568"/>
            <a:ext cx="2816352" cy="384048"/>
          </a:xfrm>
          <a:prstGeom prst="rect">
            <a:avLst/>
          </a:prstGeom>
          <a:solidFill>
            <a:srgbClr val="014592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3438144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4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MRR (end of year)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21808" y="343814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14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$6,240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46704" y="3895344"/>
            <a:ext cx="2816352" cy="384048"/>
          </a:xfrm>
          <a:prstGeom prst="rect">
            <a:avLst/>
          </a:prstGeom>
          <a:solidFill>
            <a:srgbClr val="014592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393192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4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21808" y="39319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14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~$74,880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45936" y="1207008"/>
            <a:ext cx="2816352" cy="292608"/>
          </a:xfrm>
          <a:prstGeom prst="roundRect">
            <a:avLst>
              <a:gd name="adj" fmla="val 15625"/>
            </a:avLst>
          </a:prstGeom>
          <a:solidFill>
            <a:srgbClr val="D97706">
              <a:alpha val="1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345936" y="1207008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Year 3 · 2028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73952" y="1591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AI Tier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73952" y="195681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users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918704" y="19568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39328" y="195681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21040" y="195681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$2,400/mo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73952" y="245059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users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918704" y="24505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339328" y="24505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321040" y="245059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$16,800/mo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73952" y="294436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contracts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918704" y="294436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339328" y="29443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 avg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321040" y="294436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$9,600/mo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345936" y="3401568"/>
            <a:ext cx="2816352" cy="384048"/>
          </a:xfrm>
          <a:prstGeom prst="rect">
            <a:avLst/>
          </a:prstGeom>
          <a:solidFill>
            <a:srgbClr val="D97706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73952" y="3438144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MRR (end of year)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321040" y="343814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$28,800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345936" y="3895344"/>
            <a:ext cx="2816352" cy="384048"/>
          </a:xfrm>
          <a:prstGeom prst="rect">
            <a:avLst/>
          </a:prstGeom>
          <a:solidFill>
            <a:srgbClr val="D97706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73952" y="393192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ARR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321040" y="39319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~$345,600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47472" y="44348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15% monthly user growth from Q2 2027 · 8% annual churn · Professional/Starter split 70/30 · Enterprise at avg $1,000/mo contract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47472" y="46634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These are conservative projections. Actual revenue will depend on sales velocity, churn management, and Enterprise contract size.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47472" y="3913632"/>
            <a:ext cx="2816352" cy="457200"/>
          </a:xfrm>
          <a:prstGeom prst="roundRect">
            <a:avLst>
              <a:gd name="adj" fmla="val 12000"/>
            </a:avLst>
          </a:prstGeom>
          <a:solidFill>
            <a:srgbClr val="1E2A3B"/>
          </a:solidFill>
          <a:ln/>
        </p:spPr>
      </p:sp>
      <p:sp>
        <p:nvSpPr>
          <p:cNvPr id="66" name="Text 64"/>
          <p:cNvSpPr/>
          <p:nvPr/>
        </p:nvSpPr>
        <p:spPr>
          <a:xfrm>
            <a:off x="347472" y="39136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$33.6K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1810512" y="393192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ARR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346704" y="3913632"/>
            <a:ext cx="2816352" cy="457200"/>
          </a:xfrm>
          <a:prstGeom prst="roundRect">
            <a:avLst>
              <a:gd name="adj" fmla="val 12000"/>
            </a:avLst>
          </a:prstGeom>
          <a:solidFill>
            <a:srgbClr val="1E2A3B"/>
          </a:solidFill>
          <a:ln/>
        </p:spPr>
      </p:sp>
      <p:sp>
        <p:nvSpPr>
          <p:cNvPr id="69" name="Text 67"/>
          <p:cNvSpPr/>
          <p:nvPr/>
        </p:nvSpPr>
        <p:spPr>
          <a:xfrm>
            <a:off x="3346704" y="39136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14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$74.9K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4809744" y="393192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ARR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345936" y="3913632"/>
            <a:ext cx="2816352" cy="457200"/>
          </a:xfrm>
          <a:prstGeom prst="roundRect">
            <a:avLst>
              <a:gd name="adj" fmla="val 12000"/>
            </a:avLst>
          </a:prstGeom>
          <a:solidFill>
            <a:srgbClr val="1E2A3B"/>
          </a:solidFill>
          <a:ln/>
        </p:spPr>
      </p:sp>
      <p:sp>
        <p:nvSpPr>
          <p:cNvPr id="72" name="Text 70"/>
          <p:cNvSpPr/>
          <p:nvPr/>
        </p:nvSpPr>
        <p:spPr>
          <a:xfrm>
            <a:off x="6345936" y="39136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$345K</a:t>
            </a:r>
            <a:endParaRPr lang="en-US" sz="2000" dirty="0"/>
          </a:p>
        </p:txBody>
      </p:sp>
      <p:sp>
        <p:nvSpPr>
          <p:cNvPr id="73" name="Text 71"/>
          <p:cNvSpPr/>
          <p:nvPr/>
        </p:nvSpPr>
        <p:spPr>
          <a:xfrm>
            <a:off x="7808976" y="393192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ARR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475488" cy="384048"/>
          </a:xfrm>
          <a:prstGeom prst="roundRect">
            <a:avLst>
              <a:gd name="adj" fmla="val 16667"/>
            </a:avLst>
          </a:prstGeom>
          <a:solidFill>
            <a:srgbClr val="014592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548640"/>
            <a:ext cx="18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CCFF"/>
                </a:solidFill>
              </a:rPr>
              <a:t>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84048" y="1901952"/>
            <a:ext cx="2852928" cy="1298448"/>
          </a:xfrm>
          <a:prstGeom prst="roundRect">
            <a:avLst>
              <a:gd name="adj" fmla="val 7042"/>
            </a:avLst>
          </a:prstGeom>
          <a:solidFill>
            <a:srgbClr val="1E2A3B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2029968"/>
            <a:ext cx="347472" cy="237744"/>
          </a:xfrm>
          <a:prstGeom prst="roundRect">
            <a:avLst>
              <a:gd name="adj" fmla="val 19231"/>
            </a:avLst>
          </a:prstGeom>
          <a:solidFill>
            <a:srgbClr val="2DA44E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202996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A44E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50976" y="20208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MVP scope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39572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Phase 1 feature list, team allocation, and 90-day internal launch timeline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01568" y="1901952"/>
            <a:ext cx="2852928" cy="1298448"/>
          </a:xfrm>
          <a:prstGeom prst="roundRect">
            <a:avLst>
              <a:gd name="adj" fmla="val 7042"/>
            </a:avLst>
          </a:prstGeom>
          <a:solidFill>
            <a:srgbClr val="1E2A3B"/>
          </a:solidFill>
          <a:ln/>
        </p:spPr>
      </p:sp>
      <p:sp>
        <p:nvSpPr>
          <p:cNvPr id="11" name="Shape 9"/>
          <p:cNvSpPr/>
          <p:nvPr/>
        </p:nvSpPr>
        <p:spPr>
          <a:xfrm>
            <a:off x="3547872" y="2029968"/>
            <a:ext cx="347472" cy="237744"/>
          </a:xfrm>
          <a:prstGeom prst="roundRect">
            <a:avLst>
              <a:gd name="adj" fmla="val 19231"/>
            </a:avLst>
          </a:prstGeom>
          <a:solidFill>
            <a:srgbClr val="014592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02996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4592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68496" y="20208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development team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47872" y="239572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Minimum: 2 frontend devs, 1 backend, 1 designer, 1 QA. PM can be handled internally.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19088" y="1901952"/>
            <a:ext cx="2852928" cy="1298448"/>
          </a:xfrm>
          <a:prstGeom prst="roundRect">
            <a:avLst>
              <a:gd name="adj" fmla="val 7042"/>
            </a:avLst>
          </a:prstGeom>
          <a:solidFill>
            <a:srgbClr val="1E2A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565392" y="2029968"/>
            <a:ext cx="347472" cy="237744"/>
          </a:xfrm>
          <a:prstGeom prst="roundRect">
            <a:avLst>
              <a:gd name="adj" fmla="val 19231"/>
            </a:avLst>
          </a:prstGeom>
          <a:solidFill>
            <a:srgbClr val="1A6FD4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202996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FD4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86016" y="20208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internal KPIs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65392" y="239572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target, join time benchmark, bug SLA. Measure from week 1 — not after launch.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346704"/>
            <a:ext cx="2852928" cy="1298448"/>
          </a:xfrm>
          <a:prstGeom prst="roundRect">
            <a:avLst>
              <a:gd name="adj" fmla="val 7042"/>
            </a:avLst>
          </a:prstGeom>
          <a:solidFill>
            <a:srgbClr val="1E2A3B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" y="3474720"/>
            <a:ext cx="347472" cy="237744"/>
          </a:xfrm>
          <a:prstGeom prst="roundRect">
            <a:avLst>
              <a:gd name="adj" fmla="val 19231"/>
            </a:avLst>
          </a:prstGeom>
          <a:solidFill>
            <a:srgbClr val="D97706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4747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50976" y="34655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Phase 2 pilot clients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384048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existing RDS clients willing to trial at no cost in exchange for feedback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01568" y="3346704"/>
            <a:ext cx="2852928" cy="1298448"/>
          </a:xfrm>
          <a:prstGeom prst="roundRect">
            <a:avLst>
              <a:gd name="adj" fmla="val 7042"/>
            </a:avLst>
          </a:prstGeom>
          <a:solidFill>
            <a:srgbClr val="1E2A3B"/>
          </a:solidFill>
          <a:ln/>
        </p:spPr>
      </p:sp>
      <p:sp>
        <p:nvSpPr>
          <p:cNvPr id="26" name="Shape 24"/>
          <p:cNvSpPr/>
          <p:nvPr/>
        </p:nvSpPr>
        <p:spPr>
          <a:xfrm>
            <a:off x="3547872" y="3474720"/>
            <a:ext cx="347472" cy="237744"/>
          </a:xfrm>
          <a:prstGeom prst="roundRect">
            <a:avLst>
              <a:gd name="adj" fmla="val 19231"/>
            </a:avLst>
          </a:prstGeom>
          <a:solidFill>
            <a:srgbClr val="6B21A8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547872" y="34747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21A8"/>
                </a:solidFill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68496" y="34655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available now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47872" y="384048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prototype is ready to walk through. Every button is functional.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+ Vite · #014592 · Lucide icons  ·  Full interactive prototype ready for demo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0" cy="768096"/>
          </a:xfrm>
          <a:prstGeom prst="rect">
            <a:avLst/>
          </a:prstGeom>
          <a:solidFill>
            <a:srgbClr val="014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How we researched, analysed, and turned findings into product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877824"/>
            <a:ext cx="1847088" cy="131673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877824"/>
            <a:ext cx="1847088" cy="36576"/>
          </a:xfrm>
          <a:prstGeom prst="rect">
            <a:avLst/>
          </a:prstGeom>
          <a:solidFill>
            <a:srgbClr val="014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969264"/>
            <a:ext cx="402336" cy="402336"/>
          </a:xfrm>
          <a:prstGeom prst="ellipse">
            <a:avLst/>
          </a:prstGeom>
          <a:solidFill>
            <a:srgbClr val="014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96926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144475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827"/>
                </a:solidFill>
              </a:rPr>
              <a:t>Select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755648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4 platforms chosen by global market share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66544" y="1463040"/>
            <a:ext cx="146304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12848" y="877824"/>
            <a:ext cx="1847088" cy="131673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2848" y="877824"/>
            <a:ext cx="1847088" cy="36576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07792" y="969264"/>
            <a:ext cx="402336" cy="402336"/>
          </a:xfrm>
          <a:prstGeom prst="ellipse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7792" y="96926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144475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827"/>
                </a:solidFill>
              </a:rPr>
              <a:t>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4288" y="1755648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5 consistent criteria applied across 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78224" y="1463040"/>
            <a:ext cx="146304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8" y="877824"/>
            <a:ext cx="1847088" cy="131673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24528" y="877824"/>
            <a:ext cx="1847088" cy="36576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19472" y="969264"/>
            <a:ext cx="402336" cy="402336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9472" y="96926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144475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827"/>
                </a:solidFill>
              </a:rPr>
              <a:t>Categorise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1755648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Every finding sorted: Keep · Fix · Add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9904" y="1463040"/>
            <a:ext cx="146304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6208" y="877824"/>
            <a:ext cx="1847088" cy="131673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877824"/>
            <a:ext cx="184708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31152" y="969264"/>
            <a:ext cx="402336" cy="402336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31152" y="96926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144475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827"/>
                </a:solidFill>
              </a:rPr>
              <a:t>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1755648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Findings → product requirements for RDS Meet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" y="2340864"/>
            <a:ext cx="2560320" cy="237744"/>
          </a:xfrm>
          <a:prstGeom prst="rect">
            <a:avLst/>
          </a:prstGeom>
          <a:solidFill>
            <a:srgbClr val="014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168" y="234086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THE KFA FRAMEWORK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" y="2615184"/>
            <a:ext cx="25603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56032" y="2670048"/>
            <a:ext cx="256032" cy="237744"/>
          </a:xfrm>
          <a:prstGeom prst="ellipse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" y="2670048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KEEP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" y="267004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Features that work — preserve &amp; improve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2980944"/>
            <a:ext cx="256032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035808"/>
            <a:ext cx="256032" cy="23774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" y="3035808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FIX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303580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Features that exist but are poorly done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" y="3346704"/>
            <a:ext cx="25603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2" y="3401568"/>
            <a:ext cx="256032" cy="237744"/>
          </a:xfrm>
          <a:prstGeom prst="ellipse">
            <a:avLst/>
          </a:prstGeom>
          <a:solidFill>
            <a:srgbClr val="014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" y="3401568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ADD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" y="340156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Features missing from all platforms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99232" y="2322576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</a:rPr>
              <a:t>Evaluation criteria — applied consistently to all 4 platforms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99232" y="2596896"/>
            <a:ext cx="2423160" cy="256032"/>
          </a:xfrm>
          <a:prstGeom prst="rect">
            <a:avLst/>
          </a:prstGeom>
          <a:solidFill>
            <a:srgbClr val="014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9232" y="259689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Criterion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9824" y="2596896"/>
            <a:ext cx="658368" cy="256032"/>
          </a:xfrm>
          <a:prstGeom prst="rect">
            <a:avLst/>
          </a:prstGeom>
          <a:solidFill>
            <a:srgbClr val="0E7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49824" y="259689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Zoom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2596896"/>
            <a:ext cx="658368" cy="2560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259689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Meet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03136" y="2596896"/>
            <a:ext cx="658368" cy="256032"/>
          </a:xfrm>
          <a:prstGeom prst="rect">
            <a:avLst/>
          </a:prstGeom>
          <a:solidFill>
            <a:srgbClr val="464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03136" y="259689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Teams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79792" y="2596896"/>
            <a:ext cx="658368" cy="256032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79792" y="259689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Webex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99232" y="2871216"/>
            <a:ext cx="2423160" cy="274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99232" y="2889504"/>
            <a:ext cx="2423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Interface design &amp; visual consistency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49824" y="2871216"/>
            <a:ext cx="658368" cy="274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49824" y="2889504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2DA44E"/>
                </a:solidFill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0" y="2871216"/>
            <a:ext cx="658368" cy="274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26480" y="2889504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03136" y="2871216"/>
            <a:ext cx="658368" cy="274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03136" y="2889504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79792" y="2871216"/>
            <a:ext cx="658368" cy="274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79792" y="2889504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99232" y="3163824"/>
            <a:ext cx="2423160" cy="274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99232" y="3182112"/>
            <a:ext cx="2423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Navigation &amp; feature discoverability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49824" y="3163824"/>
            <a:ext cx="658368" cy="274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49824" y="3182112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26480" y="3163824"/>
            <a:ext cx="658368" cy="274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26480" y="3182112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2DA44E"/>
                </a:solidFill>
              </a:rP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03136" y="3163824"/>
            <a:ext cx="658368" cy="274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03136" y="3182112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79792" y="3163824"/>
            <a:ext cx="658368" cy="274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79792" y="3182112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99232" y="3456432"/>
            <a:ext cx="2423160" cy="274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99232" y="3474720"/>
            <a:ext cx="2423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In-meeting collaboration tools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49824" y="3456432"/>
            <a:ext cx="658368" cy="274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49824" y="3474720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2DA44E"/>
                </a:solidFill>
              </a:rP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26480" y="3456432"/>
            <a:ext cx="658368" cy="274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26480" y="3474720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803136" y="3456432"/>
            <a:ext cx="658368" cy="274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803136" y="3474720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479792" y="3456432"/>
            <a:ext cx="658368" cy="274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79792" y="3474720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2DA44E"/>
                </a:solidFill>
              </a:rPr>
              <a:t>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999232" y="3749039"/>
            <a:ext cx="2423160" cy="274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999232" y="3767327"/>
            <a:ext cx="2423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Post-meeting intelligence &amp; data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49824" y="3749039"/>
            <a:ext cx="658368" cy="274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49824" y="3767327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26480" y="3749039"/>
            <a:ext cx="658368" cy="274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26480" y="3767327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803136" y="3749039"/>
            <a:ext cx="658368" cy="274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03136" y="3767327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479792" y="3749039"/>
            <a:ext cx="658368" cy="274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79792" y="3767327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2DA44E"/>
                </a:solidFill>
              </a:rPr>
              <a:t>✓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99232" y="4041648"/>
            <a:ext cx="2423160" cy="274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999232" y="4059935"/>
            <a:ext cx="2423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Pricing vs feature value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49824" y="4041648"/>
            <a:ext cx="658368" cy="274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449824" y="4059935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26480" y="4041648"/>
            <a:ext cx="658368" cy="274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26480" y="4059935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2DA44E"/>
                </a:solidFill>
              </a:rPr>
              <a:t>✓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803136" y="4041648"/>
            <a:ext cx="658368" cy="274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803136" y="4059935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2DA44E"/>
                </a:solidFill>
              </a:rPr>
              <a:t>✓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479792" y="4041648"/>
            <a:ext cx="658368" cy="274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479792" y="4059935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1168" y="4901184"/>
            <a:ext cx="7863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Scoring: ✓ Good  ·  ~ Partial  ·  ✗ Weak  —  Based on hands-on evaluation and documented feature sets (June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RDS Meet</dc:title>
  <dc:subject>PptxGenJS Presentation</dc:subject>
  <dc:creator>PptxGenJS</dc:creator>
  <cp:lastModifiedBy>PptxGenJS</cp:lastModifiedBy>
  <cp:revision>1</cp:revision>
  <dcterms:created xsi:type="dcterms:W3CDTF">2026-06-24T08:59:35Z</dcterms:created>
  <dcterms:modified xsi:type="dcterms:W3CDTF">2026-06-24T08:59:35Z</dcterms:modified>
</cp:coreProperties>
</file>